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5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79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1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2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3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99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3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0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7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647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9918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82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363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72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57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033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69EB-F1BE-B43F-38E1-D17CA3CA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A66F1-5BCB-43A7-4157-572E9A3DB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EAEE-12B0-24A1-2519-81DA3B1E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8D35-FB40-EF54-C489-86D4EB51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D5FDF-0284-8733-1624-B761B697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26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D1A18D9-07A1-4899-8D8E-CEE2FC82323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528B9D1-9E3E-41B6-B5E2-1E0DA4FB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982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F65D-7698-39C7-3F5A-EA4C45A8D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Digital Twin for Smart Buildings &amp;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136BD-FF53-6FB3-69A4-2158C1D07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1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E72B-3035-A1B6-EF87-F1181F27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Literature Review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BEA2-C9D8-315E-596C-F091116E3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Digital Twin technology is widely studied for smart buildings and Industry 4.0.</a:t>
            </a:r>
          </a:p>
          <a:p>
            <a:r>
              <a:rPr lang="en-US"/>
              <a:t>• IoT-based energy monitoring systems focus mainly on real-time data collection.</a:t>
            </a:r>
          </a:p>
          <a:p>
            <a:r>
              <a:rPr lang="en-US"/>
              <a:t>• Machine Learning is commonly used for energy forecasting and anomaly detection.</a:t>
            </a:r>
          </a:p>
          <a:p>
            <a:r>
              <a:rPr lang="en-US"/>
              <a:t>• Most existing works study these components independently rather than as a unified system.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6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9A1E-B504-9F0C-53BC-90C7B873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Research Gaps Identified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9CC7D-0A57-92F0-A037-5CF352BE5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Lack of end-to-end Cyber-Physical Systems combining sensing, prediction, visualization, and control.</a:t>
            </a:r>
          </a:p>
          <a:p>
            <a:r>
              <a:rPr lang="en-US"/>
              <a:t>• Limited real-time synchronization between physical buildings and virtual digital twins.</a:t>
            </a:r>
          </a:p>
          <a:p>
            <a:r>
              <a:rPr lang="en-US"/>
              <a:t>• Absence of user-centric dashboards for building-level decision making.</a:t>
            </a:r>
          </a:p>
          <a:p>
            <a:r>
              <a:rPr lang="en-US"/>
              <a:t>• Most systems are simulation-heavy or require complex BIM models.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2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308A-4211-7B10-DA7D-636272AE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Research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4BA2F-BD9F-221D-B7B2-E0E68D262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Fuller et al., IEEE, 2020 – Digital Twin Enabling Technologies</a:t>
            </a:r>
          </a:p>
          <a:p>
            <a:r>
              <a:rPr lang="en-IN"/>
              <a:t>• Zhang et al., Energy &amp; Buildings, 2021 – Digital Twin-Based Energy Management</a:t>
            </a:r>
          </a:p>
          <a:p>
            <a:r>
              <a:rPr lang="en-IN"/>
              <a:t>• Kong et al., IEEE, 2017 – LSTM-Based Energy Forecasting</a:t>
            </a:r>
          </a:p>
          <a:p>
            <a:r>
              <a:rPr lang="en-IN"/>
              <a:t>• Wang et al., IEEE Access, 2020 – CPS-Based Smart Building Systems</a:t>
            </a:r>
          </a:p>
          <a:p>
            <a:r>
              <a:rPr lang="en-IN"/>
              <a:t>• Alam et al., IEEE IoT Journal, 2019 – IoT Energy Monitoring</a:t>
            </a:r>
          </a:p>
        </p:txBody>
      </p:sp>
    </p:spTree>
    <p:extLst>
      <p:ext uri="{BB962C8B-B14F-4D97-AF65-F5344CB8AC3E}">
        <p14:creationId xmlns:p14="http://schemas.microsoft.com/office/powerpoint/2010/main" val="162471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BD1F-DD03-756E-C68E-87F06D94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Literature Gap Analysis &amp; Proposed Solution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C1441B-B172-FE22-E3B4-30DCBE454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89659"/>
              </p:ext>
            </p:extLst>
          </p:nvPr>
        </p:nvGraphicFramePr>
        <p:xfrm>
          <a:off x="1295400" y="1808480"/>
          <a:ext cx="7874001" cy="383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2116461277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336390141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50365323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IN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Gap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What Our Project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10438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a-DK"/>
                        <a:t>Fuller et al., IEEE 2020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Conceptual digital twin, no real-time system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Implements real-time IoT-driven digital twin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2547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Zhang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Simulation-based energy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Live energy monitoring with predictions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81704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Kong et al.,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ML-only forecasting using offline datasets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ML integrated with real-time IoT data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42411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Wang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Rule-based CPS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Predictive, data-driven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33749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Alam et al.,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Monitoring only, no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Monitoring + prediction +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61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00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0F60-A082-23B5-FF3D-894BA564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Novelty of the Proposed Project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A6C99-103C-4C07-4CD8-05189B3F9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End-to-end Cyber-Physical System with live feedback loop.</a:t>
            </a:r>
          </a:p>
          <a:p>
            <a:r>
              <a:rPr lang="en-US"/>
              <a:t>• Real-time digital twin visualization of building state.</a:t>
            </a:r>
          </a:p>
          <a:p>
            <a:r>
              <a:rPr lang="en-US"/>
              <a:t>• Integration of IoT, Machine Learning, and automation.</a:t>
            </a:r>
          </a:p>
          <a:p>
            <a:r>
              <a:rPr lang="en-US"/>
              <a:t>• Lightweight architecture without dependency on complex BIM models.</a:t>
            </a:r>
          </a:p>
          <a:p>
            <a:r>
              <a:rPr lang="en-US"/>
              <a:t>• User-centric mobile dashboard for monitoring and control.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8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680E-7456-830E-9DC6-789123EC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Why This Novelty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FFB82-8030-D4F6-EE29-46962A369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Bridges the gap between theoretical digital twins and real-world deployment.</a:t>
            </a:r>
          </a:p>
          <a:p>
            <a:r>
              <a:rPr lang="en-US"/>
              <a:t>• Makes energy analytics understandable to non-technical users.</a:t>
            </a:r>
          </a:p>
          <a:p>
            <a:r>
              <a:rPr lang="en-US"/>
              <a:t>• Enables proactive energy optimization instead of reactive control.</a:t>
            </a:r>
          </a:p>
          <a:p>
            <a:r>
              <a:rPr lang="en-US"/>
              <a:t>• Scalable and applicable to real smart-building environments.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1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6DC1-6B4C-D362-81F5-47908EA45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Applications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A53EE-B997-293D-7D54-45FB115C6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4" y="1732449"/>
            <a:ext cx="10577165" cy="4058751"/>
          </a:xfrm>
        </p:spPr>
        <p:txBody>
          <a:bodyPr/>
          <a:lstStyle/>
          <a:p>
            <a:r>
              <a:rPr lang="en-US" dirty="0"/>
              <a:t>Explainable AI</a:t>
            </a:r>
            <a:r>
              <a:rPr lang="en-IN" dirty="0"/>
              <a:t> – Explains the action it has taken and why ?</a:t>
            </a:r>
          </a:p>
          <a:p>
            <a:r>
              <a:rPr lang="en-US" dirty="0"/>
              <a:t>What-If Simulation Inside Digital Twin</a:t>
            </a:r>
          </a:p>
          <a:p>
            <a:r>
              <a:rPr lang="en-IN" dirty="0"/>
              <a:t>Occupancy-Aware Energy Optimization (dynamic scheduling)</a:t>
            </a:r>
          </a:p>
          <a:p>
            <a:r>
              <a:rPr lang="en-IN" dirty="0"/>
              <a:t>Edge-Cloud Hybrid Digital Twin – (</a:t>
            </a:r>
            <a:r>
              <a:rPr lang="en-US" dirty="0"/>
              <a:t>Basic twin logic on ESP32, advanced analytics in cloud)</a:t>
            </a:r>
          </a:p>
        </p:txBody>
      </p:sp>
    </p:spTree>
    <p:extLst>
      <p:ext uri="{BB962C8B-B14F-4D97-AF65-F5344CB8AC3E}">
        <p14:creationId xmlns:p14="http://schemas.microsoft.com/office/powerpoint/2010/main" val="233006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AA86-9AFB-D4AF-4959-9B28CC1C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FB80F-B6D3-BE12-0EAD-0D50D775D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Existing research addresses digital twins, IoT, and ML separately.</a:t>
            </a:r>
          </a:p>
          <a:p>
            <a:r>
              <a:rPr lang="en-US"/>
              <a:t>• Our project integrates all three into a unified CPS framework.</a:t>
            </a:r>
          </a:p>
          <a:p>
            <a:r>
              <a:rPr lang="en-US"/>
              <a:t>• The proposed system is practical, scalable, and visualization-driven.</a:t>
            </a:r>
          </a:p>
          <a:p>
            <a:r>
              <a:rPr lang="en-US"/>
              <a:t>• Strong academic relevance for a major capstone project.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287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153</TotalTime>
  <Words>462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Slate</vt:lpstr>
      <vt:lpstr>Digital Twin for Smart Buildings &amp; Energy</vt:lpstr>
      <vt:lpstr>Literature Review Overview</vt:lpstr>
      <vt:lpstr>Research Gaps Identified</vt:lpstr>
      <vt:lpstr>Key Research References</vt:lpstr>
      <vt:lpstr>Literature Gap Analysis &amp; Proposed Solution</vt:lpstr>
      <vt:lpstr>Novelty of the Proposed Project</vt:lpstr>
      <vt:lpstr>Why This Novelty Matters</vt:lpstr>
      <vt:lpstr>Future Applications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Lakshya Mehta</dc:creator>
  <cp:lastModifiedBy>Lakshya Mehta</cp:lastModifiedBy>
  <cp:revision>4</cp:revision>
  <dcterms:created xsi:type="dcterms:W3CDTF">2025-12-15T09:01:08Z</dcterms:created>
  <dcterms:modified xsi:type="dcterms:W3CDTF">2025-12-15T11:34:53Z</dcterms:modified>
</cp:coreProperties>
</file>